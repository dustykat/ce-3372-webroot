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8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4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9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2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9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1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1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0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5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7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01AEB-8F74-4E8B-AC9E-155B90EB01B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27490-BC63-428B-8D48-132F293C6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3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/>
          <p:cNvGrpSpPr/>
          <p:nvPr/>
        </p:nvGrpSpPr>
        <p:grpSpPr>
          <a:xfrm>
            <a:off x="249725" y="690465"/>
            <a:ext cx="11851980" cy="5996191"/>
            <a:chOff x="249725" y="690465"/>
            <a:chExt cx="11851980" cy="5996191"/>
          </a:xfrm>
        </p:grpSpPr>
        <p:sp>
          <p:nvSpPr>
            <p:cNvPr id="7" name="Rectangle 6"/>
            <p:cNvSpPr/>
            <p:nvPr/>
          </p:nvSpPr>
          <p:spPr>
            <a:xfrm>
              <a:off x="249725" y="2413914"/>
              <a:ext cx="5769029" cy="3208713"/>
            </a:xfrm>
            <a:prstGeom prst="rect">
              <a:avLst/>
            </a:prstGeom>
            <a:pattFill prst="lgConfetti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854743" y="1665599"/>
              <a:ext cx="550930" cy="44459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130208" y="4833257"/>
              <a:ext cx="45719" cy="1082351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30208" y="1924990"/>
              <a:ext cx="45719" cy="29082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30208" y="1924990"/>
              <a:ext cx="2057612" cy="4571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309118" y="1838131"/>
              <a:ext cx="326572" cy="13257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54155" y="690465"/>
              <a:ext cx="3394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Conceptual Model Representation</a:t>
              </a:r>
              <a:endParaRPr lang="en-US" u="sng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2961323" y="5092648"/>
              <a:ext cx="214604" cy="207223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/>
            <p:cNvSpPr/>
            <p:nvPr/>
          </p:nvSpPr>
          <p:spPr>
            <a:xfrm rot="5400000">
              <a:off x="3508521" y="1793894"/>
              <a:ext cx="345232" cy="307911"/>
            </a:xfrm>
            <a:prstGeom prst="triangle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54743" y="1211627"/>
              <a:ext cx="33107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Check Valve (Backflow Preventer)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35690" y="1740324"/>
              <a:ext cx="1100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To system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75306" y="690465"/>
              <a:ext cx="23897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EPANET Representation</a:t>
              </a:r>
              <a:endParaRPr lang="en-US" u="sng" dirty="0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812488" y="1947849"/>
              <a:ext cx="50597" cy="3651918"/>
            </a:xfrm>
            <a:prstGeom prst="straightConnector1">
              <a:avLst/>
            </a:prstGeom>
            <a:ln w="22225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 rot="16200000">
              <a:off x="3286606" y="3666041"/>
              <a:ext cx="10517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Static Lift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57652" y="6171347"/>
              <a:ext cx="2421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Groundwater Reservoir 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 rot="16200000">
              <a:off x="2913612" y="5180430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Pump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8034" y="5622627"/>
              <a:ext cx="5760720" cy="1064029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929465" y="5402066"/>
              <a:ext cx="1082351" cy="6003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929465" y="5599767"/>
              <a:ext cx="1091682" cy="4026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6092890" y="5622627"/>
              <a:ext cx="169817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232843" y="5691666"/>
              <a:ext cx="14497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GW Elevation</a:t>
              </a:r>
              <a:endParaRPr lang="en-US" dirty="0"/>
            </a:p>
          </p:txBody>
        </p:sp>
        <p:sp>
          <p:nvSpPr>
            <p:cNvPr id="32" name="Oval 31"/>
            <p:cNvSpPr/>
            <p:nvPr/>
          </p:nvSpPr>
          <p:spPr>
            <a:xfrm>
              <a:off x="10115504" y="2555338"/>
              <a:ext cx="378325" cy="410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/>
            <p:cNvCxnSpPr/>
            <p:nvPr/>
          </p:nvCxnSpPr>
          <p:spPr>
            <a:xfrm flipV="1">
              <a:off x="10587135" y="2668555"/>
              <a:ext cx="1356049" cy="870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0493829" y="2657975"/>
              <a:ext cx="1607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Node Elevation</a:t>
              </a:r>
              <a:endParaRPr lang="en-US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8246734" y="4074212"/>
              <a:ext cx="447812" cy="819336"/>
              <a:chOff x="8167651" y="4180114"/>
              <a:chExt cx="447812" cy="819336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8167651" y="4572000"/>
                <a:ext cx="447812" cy="42745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8369559" y="4180114"/>
                <a:ext cx="233265" cy="5878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/>
            <p:cNvCxnSpPr>
              <a:stCxn id="27" idx="0"/>
              <a:endCxn id="35" idx="4"/>
            </p:cNvCxnSpPr>
            <p:nvPr/>
          </p:nvCxnSpPr>
          <p:spPr>
            <a:xfrm flipH="1" flipV="1">
              <a:off x="8470640" y="4893548"/>
              <a:ext cx="4666" cy="7062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6" idx="0"/>
              <a:endCxn id="47" idx="3"/>
            </p:cNvCxnSpPr>
            <p:nvPr/>
          </p:nvCxnSpPr>
          <p:spPr>
            <a:xfrm flipV="1">
              <a:off x="8565275" y="3502967"/>
              <a:ext cx="610142" cy="57124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47" idx="0"/>
              <a:endCxn id="32" idx="2"/>
            </p:cNvCxnSpPr>
            <p:nvPr/>
          </p:nvCxnSpPr>
          <p:spPr>
            <a:xfrm flipV="1">
              <a:off x="9467314" y="2760612"/>
              <a:ext cx="648190" cy="49466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Isosceles Triangle 46"/>
            <p:cNvSpPr/>
            <p:nvPr/>
          </p:nvSpPr>
          <p:spPr>
            <a:xfrm rot="2981039">
              <a:off x="9094518" y="3187712"/>
              <a:ext cx="453695" cy="38282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 flipH="1">
              <a:off x="8773806" y="3082311"/>
              <a:ext cx="1618918" cy="1444116"/>
            </a:xfrm>
            <a:prstGeom prst="straightConnector1">
              <a:avLst/>
            </a:prstGeom>
            <a:ln w="22225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 rot="19108172">
              <a:off x="9011775" y="3616763"/>
              <a:ext cx="1952522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     Static Lift + </a:t>
              </a:r>
              <a:br>
                <a:rPr lang="en-US" dirty="0" smtClean="0"/>
              </a:br>
              <a:r>
                <a:rPr lang="en-US" dirty="0" smtClean="0"/>
                <a:t>Connection Length</a:t>
              </a:r>
              <a:endParaRPr lang="en-US" dirty="0"/>
            </a:p>
          </p:txBody>
        </p:sp>
        <p:sp>
          <p:nvSpPr>
            <p:cNvPr id="57" name="TextBox 56"/>
            <p:cNvSpPr txBox="1"/>
            <p:nvPr/>
          </p:nvSpPr>
          <p:spPr>
            <a:xfrm rot="16200000">
              <a:off x="7650474" y="4270275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Pump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590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2408" y="4590661"/>
            <a:ext cx="1595535" cy="419878"/>
          </a:xfrm>
          <a:prstGeom prst="rect">
            <a:avLst/>
          </a:prstGeom>
          <a:pattFill prst="pct30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/>
          <p:cNvSpPr/>
          <p:nvPr/>
        </p:nvSpPr>
        <p:spPr>
          <a:xfrm>
            <a:off x="1995055" y="4654276"/>
            <a:ext cx="7232072" cy="622822"/>
          </a:xfrm>
          <a:custGeom>
            <a:avLst/>
            <a:gdLst>
              <a:gd name="connsiteX0" fmla="*/ 0 w 7232072"/>
              <a:gd name="connsiteY0" fmla="*/ 207818 h 415636"/>
              <a:gd name="connsiteX1" fmla="*/ 1064029 w 7232072"/>
              <a:gd name="connsiteY1" fmla="*/ 0 h 415636"/>
              <a:gd name="connsiteX2" fmla="*/ 2818014 w 7232072"/>
              <a:gd name="connsiteY2" fmla="*/ 249381 h 415636"/>
              <a:gd name="connsiteX3" fmla="*/ 3757352 w 7232072"/>
              <a:gd name="connsiteY3" fmla="*/ 216130 h 415636"/>
              <a:gd name="connsiteX4" fmla="*/ 5295207 w 7232072"/>
              <a:gd name="connsiteY4" fmla="*/ 332509 h 415636"/>
              <a:gd name="connsiteX5" fmla="*/ 6475614 w 7232072"/>
              <a:gd name="connsiteY5" fmla="*/ 257694 h 415636"/>
              <a:gd name="connsiteX6" fmla="*/ 7232072 w 7232072"/>
              <a:gd name="connsiteY6" fmla="*/ 415636 h 415636"/>
              <a:gd name="connsiteX7" fmla="*/ 7232072 w 7232072"/>
              <a:gd name="connsiteY7" fmla="*/ 415636 h 41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32072" h="415636">
                <a:moveTo>
                  <a:pt x="0" y="207818"/>
                </a:moveTo>
                <a:lnTo>
                  <a:pt x="1064029" y="0"/>
                </a:lnTo>
                <a:lnTo>
                  <a:pt x="2818014" y="249381"/>
                </a:lnTo>
                <a:lnTo>
                  <a:pt x="3757352" y="216130"/>
                </a:lnTo>
                <a:lnTo>
                  <a:pt x="5295207" y="332509"/>
                </a:lnTo>
                <a:lnTo>
                  <a:pt x="6475614" y="257694"/>
                </a:lnTo>
                <a:lnTo>
                  <a:pt x="7232072" y="415636"/>
                </a:lnTo>
                <a:lnTo>
                  <a:pt x="7232072" y="415636"/>
                </a:lnTo>
              </a:path>
            </a:pathLst>
          </a:custGeom>
          <a:pattFill prst="lgConfetti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172408" y="2771192"/>
            <a:ext cx="1586204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81739" y="3511420"/>
            <a:ext cx="1586204" cy="10885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917233" y="3511420"/>
            <a:ext cx="0" cy="108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4637325" y="3696877"/>
            <a:ext cx="107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Fill Depth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450702" y="4599992"/>
            <a:ext cx="13436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4310" y="4421403"/>
            <a:ext cx="1607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Node Elevation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733869" y="4599992"/>
            <a:ext cx="447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665559" y="2771192"/>
            <a:ext cx="533286" cy="3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8" idx="3"/>
          </p:cNvCxnSpPr>
          <p:nvPr/>
        </p:nvCxnSpPr>
        <p:spPr>
          <a:xfrm>
            <a:off x="2663389" y="3583633"/>
            <a:ext cx="5177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8837" y="4374823"/>
            <a:ext cx="1730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Minimum Depth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15219" y="2552068"/>
            <a:ext cx="176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Maximum Depth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322381" y="3398967"/>
            <a:ext cx="1341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 Depth</a:t>
            </a:r>
            <a:endParaRPr lang="en-US" dirty="0"/>
          </a:p>
        </p:txBody>
      </p:sp>
      <p:cxnSp>
        <p:nvCxnSpPr>
          <p:cNvPr id="20" name="Elbow Connector 19"/>
          <p:cNvCxnSpPr/>
          <p:nvPr/>
        </p:nvCxnSpPr>
        <p:spPr>
          <a:xfrm flipV="1">
            <a:off x="1388637" y="2565913"/>
            <a:ext cx="2979506" cy="2969432"/>
          </a:xfrm>
          <a:prstGeom prst="bentConnector3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/>
          <p:nvPr/>
        </p:nvCxnSpPr>
        <p:spPr>
          <a:xfrm>
            <a:off x="4753946" y="4438572"/>
            <a:ext cx="5290457" cy="431405"/>
          </a:xfrm>
          <a:prstGeom prst="bentConnector3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Arrow 28"/>
          <p:cNvSpPr/>
          <p:nvPr/>
        </p:nvSpPr>
        <p:spPr>
          <a:xfrm rot="5400000">
            <a:off x="4250086" y="2565920"/>
            <a:ext cx="368560" cy="29127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10042363" y="4669923"/>
            <a:ext cx="479680" cy="394237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012419" y="4702657"/>
            <a:ext cx="335054" cy="328771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636741" y="4361016"/>
            <a:ext cx="131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Boost Pump</a:t>
            </a:r>
            <a:endParaRPr lang="en-US" dirty="0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5332217" y="4247828"/>
            <a:ext cx="419877" cy="354488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514202" y="4011202"/>
            <a:ext cx="129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Check Valve</a:t>
            </a:r>
            <a:endParaRPr lang="en-US" dirty="0"/>
          </a:p>
        </p:txBody>
      </p:sp>
      <p:sp>
        <p:nvSpPr>
          <p:cNvPr id="35" name="Right Arrow 34"/>
          <p:cNvSpPr/>
          <p:nvPr/>
        </p:nvSpPr>
        <p:spPr>
          <a:xfrm>
            <a:off x="1029543" y="5361541"/>
            <a:ext cx="444878" cy="347607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143361" y="447691"/>
            <a:ext cx="11709311" cy="6222819"/>
            <a:chOff x="143361" y="447691"/>
            <a:chExt cx="11709311" cy="6222819"/>
          </a:xfrm>
        </p:grpSpPr>
        <p:cxnSp>
          <p:nvCxnSpPr>
            <p:cNvPr id="23" name="Elbow Connector 22"/>
            <p:cNvCxnSpPr/>
            <p:nvPr/>
          </p:nvCxnSpPr>
          <p:spPr>
            <a:xfrm flipV="1">
              <a:off x="4753946" y="4438572"/>
              <a:ext cx="3168083" cy="1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7298208" y="2754122"/>
              <a:ext cx="1586204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07539" y="3494342"/>
              <a:ext cx="1586204" cy="1088572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298208" y="4590205"/>
              <a:ext cx="1595535" cy="419878"/>
            </a:xfrm>
            <a:prstGeom prst="rect">
              <a:avLst/>
            </a:prstGeom>
            <a:pattFill prst="pct30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72408" y="4590661"/>
              <a:ext cx="1595535" cy="419878"/>
            </a:xfrm>
            <a:prstGeom prst="rect">
              <a:avLst/>
            </a:prstGeom>
            <a:pattFill prst="pct30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3172408" y="2771192"/>
              <a:ext cx="1586204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181739" y="3511420"/>
              <a:ext cx="1586204" cy="1088572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4917233" y="3511420"/>
              <a:ext cx="0" cy="108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 rot="16200000">
              <a:off x="4553148" y="2993797"/>
              <a:ext cx="7198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 Level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4450702" y="4599992"/>
              <a:ext cx="13436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733869" y="4599992"/>
              <a:ext cx="4478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665559" y="2771192"/>
              <a:ext cx="533286" cy="31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546066" y="5106035"/>
              <a:ext cx="758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TSR_2</a:t>
              </a:r>
              <a:endParaRPr lang="en-US" dirty="0"/>
            </a:p>
          </p:txBody>
        </p:sp>
        <p:cxnSp>
          <p:nvCxnSpPr>
            <p:cNvPr id="20" name="Elbow Connector 19"/>
            <p:cNvCxnSpPr/>
            <p:nvPr/>
          </p:nvCxnSpPr>
          <p:spPr>
            <a:xfrm flipV="1">
              <a:off x="1853293" y="2565913"/>
              <a:ext cx="2514850" cy="2157893"/>
            </a:xfrm>
            <a:prstGeom prst="bentConnector3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ight Arrow 28"/>
            <p:cNvSpPr/>
            <p:nvPr/>
          </p:nvSpPr>
          <p:spPr>
            <a:xfrm rot="5400000">
              <a:off x="4250086" y="2565920"/>
              <a:ext cx="368560" cy="291270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32"/>
            <p:cNvSpPr/>
            <p:nvPr/>
          </p:nvSpPr>
          <p:spPr>
            <a:xfrm rot="5400000">
              <a:off x="5898608" y="4261328"/>
              <a:ext cx="419877" cy="35448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28013" y="3727781"/>
              <a:ext cx="15817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PIPE TSR_TRAN and</a:t>
              </a:r>
              <a:br>
                <a:rPr lang="en-US" sz="1200" dirty="0" smtClean="0"/>
              </a:br>
              <a:r>
                <a:rPr lang="en-US" sz="1200" dirty="0" smtClean="0"/>
                <a:t>Isolation Valve</a:t>
              </a:r>
              <a:endParaRPr lang="en-US" sz="1200" dirty="0"/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1104257" y="4546236"/>
              <a:ext cx="444878" cy="347607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reeform 1"/>
            <p:cNvSpPr/>
            <p:nvPr/>
          </p:nvSpPr>
          <p:spPr>
            <a:xfrm rot="21403308">
              <a:off x="1507920" y="4446896"/>
              <a:ext cx="9398764" cy="876227"/>
            </a:xfrm>
            <a:custGeom>
              <a:avLst/>
              <a:gdLst>
                <a:gd name="connsiteX0" fmla="*/ 0 w 7232072"/>
                <a:gd name="connsiteY0" fmla="*/ 207818 h 415636"/>
                <a:gd name="connsiteX1" fmla="*/ 1064029 w 7232072"/>
                <a:gd name="connsiteY1" fmla="*/ 0 h 415636"/>
                <a:gd name="connsiteX2" fmla="*/ 2818014 w 7232072"/>
                <a:gd name="connsiteY2" fmla="*/ 249381 h 415636"/>
                <a:gd name="connsiteX3" fmla="*/ 3757352 w 7232072"/>
                <a:gd name="connsiteY3" fmla="*/ 216130 h 415636"/>
                <a:gd name="connsiteX4" fmla="*/ 5295207 w 7232072"/>
                <a:gd name="connsiteY4" fmla="*/ 332509 h 415636"/>
                <a:gd name="connsiteX5" fmla="*/ 6475614 w 7232072"/>
                <a:gd name="connsiteY5" fmla="*/ 257694 h 415636"/>
                <a:gd name="connsiteX6" fmla="*/ 7232072 w 7232072"/>
                <a:gd name="connsiteY6" fmla="*/ 415636 h 415636"/>
                <a:gd name="connsiteX7" fmla="*/ 7232072 w 7232072"/>
                <a:gd name="connsiteY7" fmla="*/ 415636 h 415636"/>
                <a:gd name="connsiteX0" fmla="*/ 0 w 7232072"/>
                <a:gd name="connsiteY0" fmla="*/ 106574 h 314392"/>
                <a:gd name="connsiteX1" fmla="*/ 1051593 w 7232072"/>
                <a:gd name="connsiteY1" fmla="*/ 0 h 314392"/>
                <a:gd name="connsiteX2" fmla="*/ 2818014 w 7232072"/>
                <a:gd name="connsiteY2" fmla="*/ 148137 h 314392"/>
                <a:gd name="connsiteX3" fmla="*/ 3757352 w 7232072"/>
                <a:gd name="connsiteY3" fmla="*/ 114886 h 314392"/>
                <a:gd name="connsiteX4" fmla="*/ 5295207 w 7232072"/>
                <a:gd name="connsiteY4" fmla="*/ 231265 h 314392"/>
                <a:gd name="connsiteX5" fmla="*/ 6475614 w 7232072"/>
                <a:gd name="connsiteY5" fmla="*/ 156450 h 314392"/>
                <a:gd name="connsiteX6" fmla="*/ 7232072 w 7232072"/>
                <a:gd name="connsiteY6" fmla="*/ 314392 h 314392"/>
                <a:gd name="connsiteX7" fmla="*/ 7232072 w 7232072"/>
                <a:gd name="connsiteY7" fmla="*/ 314392 h 3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32072" h="314392">
                  <a:moveTo>
                    <a:pt x="0" y="106574"/>
                  </a:moveTo>
                  <a:lnTo>
                    <a:pt x="1051593" y="0"/>
                  </a:lnTo>
                  <a:lnTo>
                    <a:pt x="2818014" y="148137"/>
                  </a:lnTo>
                  <a:lnTo>
                    <a:pt x="3757352" y="114886"/>
                  </a:lnTo>
                  <a:lnTo>
                    <a:pt x="5295207" y="231265"/>
                  </a:lnTo>
                  <a:lnTo>
                    <a:pt x="6475614" y="156450"/>
                  </a:lnTo>
                  <a:lnTo>
                    <a:pt x="7232072" y="314392"/>
                  </a:lnTo>
                  <a:lnTo>
                    <a:pt x="7232072" y="314392"/>
                  </a:lnTo>
                </a:path>
              </a:pathLst>
            </a:custGeom>
            <a:pattFill prst="lgConfetti">
              <a:fgClr>
                <a:schemeClr val="accent4">
                  <a:lumMod val="75000"/>
                </a:schemeClr>
              </a:fgClr>
              <a:bgClr>
                <a:schemeClr val="bg1"/>
              </a:bgClr>
            </a:pattFill>
            <a:ln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11407794" y="4452958"/>
              <a:ext cx="444878" cy="347607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Elbow Connector 35"/>
            <p:cNvCxnSpPr/>
            <p:nvPr/>
          </p:nvCxnSpPr>
          <p:spPr>
            <a:xfrm>
              <a:off x="8894964" y="4524472"/>
              <a:ext cx="2529044" cy="124039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9991959" y="4360086"/>
              <a:ext cx="335054" cy="32877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 rot="17461383">
              <a:off x="9720400" y="3478168"/>
              <a:ext cx="1510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Booster Pump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22838" y="5113357"/>
              <a:ext cx="758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TSR_1</a:t>
              </a:r>
              <a:endParaRPr 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986331" y="3703566"/>
              <a:ext cx="13460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PIPE TSR_OUT and</a:t>
              </a:r>
              <a:br>
                <a:rPr lang="en-US" sz="1200" dirty="0" smtClean="0"/>
              </a:br>
              <a:r>
                <a:rPr lang="en-US" sz="1200" dirty="0" smtClean="0"/>
                <a:t>Check Valve</a:t>
              </a:r>
              <a:endParaRPr lang="en-US" sz="1200" dirty="0"/>
            </a:p>
          </p:txBody>
        </p:sp>
        <p:sp>
          <p:nvSpPr>
            <p:cNvPr id="46" name="Isosceles Triangle 45"/>
            <p:cNvSpPr/>
            <p:nvPr/>
          </p:nvSpPr>
          <p:spPr>
            <a:xfrm rot="5400000">
              <a:off x="9225904" y="4336623"/>
              <a:ext cx="419877" cy="35448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053222" y="2228027"/>
              <a:ext cx="11921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PIPE TSR_INPUT</a:t>
              </a:r>
              <a:endParaRPr lang="en-US" sz="12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31302" y="5500959"/>
              <a:ext cx="2300914" cy="116955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en-US" sz="1000" dirty="0"/>
                <a:t>RULE STOPTSR2OVERFILL</a:t>
              </a:r>
            </a:p>
            <a:p>
              <a:r>
                <a:rPr lang="en-US" sz="1000" dirty="0"/>
                <a:t>IF TANK TSR-2 LEVEL &gt; 29.5</a:t>
              </a:r>
            </a:p>
            <a:p>
              <a:r>
                <a:rPr lang="en-US" sz="1000" dirty="0"/>
                <a:t>THEN CV TSR_TRAN STATUS IS CLOSED</a:t>
              </a:r>
            </a:p>
            <a:p>
              <a:endParaRPr lang="en-US" sz="1000" dirty="0"/>
            </a:p>
            <a:p>
              <a:r>
                <a:rPr lang="en-US" sz="1000" dirty="0"/>
                <a:t>RULE KEEPTSR2FILLED</a:t>
              </a:r>
            </a:p>
            <a:p>
              <a:r>
                <a:rPr lang="en-US" sz="1000" dirty="0"/>
                <a:t>IF TANK TSR-2 LEVEL &lt; 10.0</a:t>
              </a:r>
            </a:p>
            <a:p>
              <a:r>
                <a:rPr lang="en-US" sz="1000" dirty="0"/>
                <a:t>THEN CV TSR_TRAN STATUS IS OPEN</a:t>
              </a:r>
              <a:endParaRPr lang="en-US" sz="1000" dirty="0"/>
            </a:p>
          </p:txBody>
        </p:sp>
        <p:sp>
          <p:nvSpPr>
            <p:cNvPr id="50" name="Right Brace 49"/>
            <p:cNvSpPr/>
            <p:nvPr/>
          </p:nvSpPr>
          <p:spPr>
            <a:xfrm>
              <a:off x="8229817" y="5488564"/>
              <a:ext cx="75239" cy="115592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43361" y="447691"/>
              <a:ext cx="2649508" cy="30162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000" dirty="0"/>
                <a:t>RULE STOPTSR1OVERFILL4</a:t>
              </a:r>
            </a:p>
            <a:p>
              <a:r>
                <a:rPr lang="en-US" sz="1000" dirty="0"/>
                <a:t>IF TANK TSR-1 LEVEL &gt; 26.5</a:t>
              </a:r>
            </a:p>
            <a:p>
              <a:r>
                <a:rPr lang="en-US" sz="1000" dirty="0"/>
                <a:t>THEN PIPE FCV_TSR SETTING IS 1600</a:t>
              </a:r>
            </a:p>
            <a:p>
              <a:r>
                <a:rPr lang="en-US" sz="1000" dirty="0"/>
                <a:t>PRIORITY </a:t>
              </a:r>
              <a:r>
                <a:rPr lang="en-US" sz="1000" dirty="0" smtClean="0"/>
                <a:t>4</a:t>
              </a:r>
            </a:p>
            <a:p>
              <a:endParaRPr lang="en-US" sz="1000" dirty="0"/>
            </a:p>
            <a:p>
              <a:r>
                <a:rPr lang="en-US" sz="1000" dirty="0"/>
                <a:t>RULE STOPTSR1OVERFILL3</a:t>
              </a:r>
            </a:p>
            <a:p>
              <a:r>
                <a:rPr lang="en-US" sz="1000" dirty="0"/>
                <a:t>IF TANK TSR-1 LEVEL &gt; 27.5</a:t>
              </a:r>
            </a:p>
            <a:p>
              <a:r>
                <a:rPr lang="en-US" sz="1000" dirty="0"/>
                <a:t>THEN PIPE FCV_TSR SETTING IS 800</a:t>
              </a:r>
            </a:p>
            <a:p>
              <a:r>
                <a:rPr lang="en-US" sz="1000" dirty="0"/>
                <a:t>PRIORITY 3</a:t>
              </a:r>
            </a:p>
            <a:p>
              <a:endParaRPr lang="en-US" sz="1000" dirty="0"/>
            </a:p>
            <a:p>
              <a:r>
                <a:rPr lang="en-US" sz="1000" dirty="0"/>
                <a:t>RULE STOPTSR1OVERFILL2</a:t>
              </a:r>
            </a:p>
            <a:p>
              <a:r>
                <a:rPr lang="en-US" sz="1000" dirty="0"/>
                <a:t>IF TANK TSR-1 LEVEL &gt; 28.5</a:t>
              </a:r>
            </a:p>
            <a:p>
              <a:r>
                <a:rPr lang="en-US" sz="1000" dirty="0"/>
                <a:t>THEN PIPE FCV_TSR SETTING IS 450</a:t>
              </a:r>
            </a:p>
            <a:p>
              <a:r>
                <a:rPr lang="en-US" sz="1000" dirty="0"/>
                <a:t>PRIORITY 2</a:t>
              </a:r>
            </a:p>
            <a:p>
              <a:endParaRPr lang="en-US" sz="1000" dirty="0"/>
            </a:p>
            <a:p>
              <a:r>
                <a:rPr lang="en-US" sz="1000" dirty="0"/>
                <a:t>RULE STOPTSR1OVERFILL1</a:t>
              </a:r>
            </a:p>
            <a:p>
              <a:r>
                <a:rPr lang="en-US" sz="1000" dirty="0"/>
                <a:t>IF TANK TSR-1 LEVEL &gt; 29.5</a:t>
              </a:r>
            </a:p>
            <a:p>
              <a:r>
                <a:rPr lang="en-US" sz="1000" dirty="0"/>
                <a:t>THEN PIPE FCV_TSR SETTING IS CLOSED</a:t>
              </a:r>
            </a:p>
            <a:p>
              <a:r>
                <a:rPr lang="en-US" sz="1000" dirty="0"/>
                <a:t>PRIORITY 1</a:t>
              </a:r>
              <a:endParaRPr lang="en-US" sz="10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660483" y="519130"/>
              <a:ext cx="39841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smtClean="0"/>
                <a:t>When </a:t>
              </a:r>
              <a:r>
                <a:rPr lang="en-US" sz="1100" dirty="0" smtClean="0"/>
                <a:t>TSR_1 is getting empty,  </a:t>
              </a:r>
              <a:r>
                <a:rPr lang="en-US" sz="1100" dirty="0" smtClean="0"/>
                <a:t>increase inflow; full open if tank level minimum imminent</a:t>
              </a:r>
              <a:endParaRPr lang="en-US" sz="1100" dirty="0" smtClean="0"/>
            </a:p>
          </p:txBody>
        </p:sp>
        <p:sp>
          <p:nvSpPr>
            <p:cNvPr id="56" name="Right Brace 55"/>
            <p:cNvSpPr/>
            <p:nvPr/>
          </p:nvSpPr>
          <p:spPr>
            <a:xfrm>
              <a:off x="2925261" y="447691"/>
              <a:ext cx="155550" cy="155997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8399269" y="5812997"/>
            <a:ext cx="2875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When TSR_2 is getting full , stop inflow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When TSR_2 is getting empty,  allow inflow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91" y="4276244"/>
            <a:ext cx="1157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FROM PIPELINE</a:t>
            </a:r>
            <a:endParaRPr lang="en-US" sz="1200" dirty="0"/>
          </a:p>
        </p:txBody>
      </p:sp>
      <p:sp>
        <p:nvSpPr>
          <p:cNvPr id="42" name="TextBox 41"/>
          <p:cNvSpPr txBox="1"/>
          <p:nvPr/>
        </p:nvSpPr>
        <p:spPr>
          <a:xfrm>
            <a:off x="10764442" y="3906912"/>
            <a:ext cx="1146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 WATER DISTRIBUTION SYSTEM</a:t>
            </a:r>
            <a:endParaRPr lang="en-US" sz="12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1571379" y="4536770"/>
            <a:ext cx="390698" cy="374072"/>
            <a:chOff x="1670858" y="3607724"/>
            <a:chExt cx="390698" cy="374072"/>
          </a:xfrm>
        </p:grpSpPr>
        <p:sp>
          <p:nvSpPr>
            <p:cNvPr id="6" name="Oval 5"/>
            <p:cNvSpPr/>
            <p:nvPr/>
          </p:nvSpPr>
          <p:spPr>
            <a:xfrm>
              <a:off x="1670858" y="3607724"/>
              <a:ext cx="390698" cy="3740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stCxn id="6" idx="3"/>
              <a:endCxn id="6" idx="7"/>
            </p:cNvCxnSpPr>
            <p:nvPr/>
          </p:nvCxnSpPr>
          <p:spPr>
            <a:xfrm flipV="1">
              <a:off x="1728074" y="3662506"/>
              <a:ext cx="276266" cy="2645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1771099" y="3692644"/>
              <a:ext cx="191192" cy="224444"/>
              <a:chOff x="989215" y="2984269"/>
              <a:chExt cx="418409" cy="277097"/>
            </a:xfrm>
          </p:grpSpPr>
          <p:sp>
            <p:nvSpPr>
              <p:cNvPr id="16" name="Isosceles Triangle 15"/>
              <p:cNvSpPr/>
              <p:nvPr/>
            </p:nvSpPr>
            <p:spPr>
              <a:xfrm rot="5400000">
                <a:off x="955964" y="3017520"/>
                <a:ext cx="274320" cy="207818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Isosceles Triangle 43"/>
              <p:cNvSpPr/>
              <p:nvPr/>
            </p:nvSpPr>
            <p:spPr>
              <a:xfrm rot="16200000">
                <a:off x="1166555" y="3020297"/>
                <a:ext cx="274320" cy="207818"/>
              </a:xfrm>
              <a:prstGeom prst="triangl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9" name="TextBox 48"/>
          <p:cNvSpPr txBox="1"/>
          <p:nvPr/>
        </p:nvSpPr>
        <p:spPr>
          <a:xfrm rot="18308529">
            <a:off x="68823" y="5603144"/>
            <a:ext cx="194867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Flow Control Valve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5091566" y="519130"/>
            <a:ext cx="2130773" cy="30162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/>
              <a:t>RULE KEEPTSR1FILLED1</a:t>
            </a:r>
          </a:p>
          <a:p>
            <a:r>
              <a:rPr lang="en-US" sz="1000" dirty="0"/>
              <a:t>IF TANK TSR-1 LEVEL &lt; 13.5</a:t>
            </a:r>
          </a:p>
          <a:p>
            <a:r>
              <a:rPr lang="en-US" sz="1000" dirty="0"/>
              <a:t>THEN PIPE FCV_TSR SETTING IS 450</a:t>
            </a:r>
          </a:p>
          <a:p>
            <a:r>
              <a:rPr lang="en-US" sz="1000" dirty="0"/>
              <a:t>PRIORITY 1</a:t>
            </a:r>
          </a:p>
          <a:p>
            <a:endParaRPr lang="en-US" sz="1000" dirty="0"/>
          </a:p>
          <a:p>
            <a:r>
              <a:rPr lang="en-US" sz="1000" dirty="0"/>
              <a:t>RULE KEEPTSR1FILLED2</a:t>
            </a:r>
          </a:p>
          <a:p>
            <a:r>
              <a:rPr lang="en-US" sz="1000" dirty="0"/>
              <a:t>IF TANK TSR-1 LEVEL &lt; 12.5</a:t>
            </a:r>
          </a:p>
          <a:p>
            <a:r>
              <a:rPr lang="en-US" sz="1000" dirty="0"/>
              <a:t>THEN PIPE FCV_TSR SETTING IS 800</a:t>
            </a:r>
          </a:p>
          <a:p>
            <a:r>
              <a:rPr lang="en-US" sz="1000" dirty="0"/>
              <a:t>PRIORITY 2</a:t>
            </a:r>
          </a:p>
          <a:p>
            <a:endParaRPr lang="en-US" sz="1000" dirty="0"/>
          </a:p>
          <a:p>
            <a:r>
              <a:rPr lang="en-US" sz="1000" dirty="0"/>
              <a:t>RULE KEEPTSR1FILLED3</a:t>
            </a:r>
          </a:p>
          <a:p>
            <a:r>
              <a:rPr lang="en-US" sz="1000" dirty="0"/>
              <a:t>IF TANK TSR-1 LEVEL &lt; 11.5</a:t>
            </a:r>
          </a:p>
          <a:p>
            <a:r>
              <a:rPr lang="en-US" sz="1000" dirty="0"/>
              <a:t>THEN PIPE FCV_TSR SETTING IS 1300</a:t>
            </a:r>
          </a:p>
          <a:p>
            <a:r>
              <a:rPr lang="en-US" sz="1000" dirty="0"/>
              <a:t>PRIORITY 3</a:t>
            </a:r>
          </a:p>
          <a:p>
            <a:endParaRPr lang="en-US" sz="1000" dirty="0"/>
          </a:p>
          <a:p>
            <a:r>
              <a:rPr lang="en-US" sz="1000" dirty="0"/>
              <a:t>RULE KEEPTSR1FILLED4</a:t>
            </a:r>
          </a:p>
          <a:p>
            <a:r>
              <a:rPr lang="en-US" sz="1000" dirty="0"/>
              <a:t>IF TANK TSR-1 LEVEL &lt; 10.5</a:t>
            </a:r>
          </a:p>
          <a:p>
            <a:r>
              <a:rPr lang="en-US" sz="1000" dirty="0"/>
              <a:t>THEN PIPE FCV_TSR SETTING IS 2200</a:t>
            </a:r>
          </a:p>
          <a:p>
            <a:r>
              <a:rPr lang="en-US" sz="1000" dirty="0"/>
              <a:t>PRIORITY 4</a:t>
            </a:r>
            <a:endParaRPr lang="en-US" sz="1000" dirty="0"/>
          </a:p>
        </p:txBody>
      </p:sp>
      <p:sp>
        <p:nvSpPr>
          <p:cNvPr id="54" name="Right Brace 53"/>
          <p:cNvSpPr/>
          <p:nvPr/>
        </p:nvSpPr>
        <p:spPr>
          <a:xfrm>
            <a:off x="7399743" y="528661"/>
            <a:ext cx="155550" cy="15599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3053222" y="405601"/>
            <a:ext cx="21505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When TSR_1 is getting full , </a:t>
            </a:r>
            <a:r>
              <a:rPr lang="en-US" sz="1100" dirty="0" smtClean="0"/>
              <a:t>slow inflow; full close if overflow imminent</a:t>
            </a:r>
            <a:endParaRPr lang="en-US" sz="1100" dirty="0" smtClean="0"/>
          </a:p>
        </p:txBody>
      </p:sp>
    </p:spTree>
    <p:extLst>
      <p:ext uri="{BB962C8B-B14F-4D97-AF65-F5344CB8AC3E}">
        <p14:creationId xmlns:p14="http://schemas.microsoft.com/office/powerpoint/2010/main" val="39016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Elbow Connector 22"/>
          <p:cNvCxnSpPr/>
          <p:nvPr/>
        </p:nvCxnSpPr>
        <p:spPr>
          <a:xfrm flipV="1">
            <a:off x="4529172" y="3548248"/>
            <a:ext cx="2003129" cy="6935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081392" y="2731830"/>
            <a:ext cx="1273211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090723" y="3472050"/>
            <a:ext cx="1263880" cy="10885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081392" y="4567913"/>
            <a:ext cx="1273211" cy="419878"/>
          </a:xfrm>
          <a:prstGeom prst="rect">
            <a:avLst/>
          </a:prstGeom>
          <a:pattFill prst="pct30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55592" y="4568369"/>
            <a:ext cx="1595535" cy="419878"/>
          </a:xfrm>
          <a:prstGeom prst="rect">
            <a:avLst/>
          </a:prstGeom>
          <a:pattFill prst="pct30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955592" y="2748900"/>
            <a:ext cx="1586204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64923" y="3489128"/>
            <a:ext cx="1586204" cy="10885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233886" y="3472050"/>
            <a:ext cx="0" cy="108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3762557" y="3831669"/>
            <a:ext cx="666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233886" y="4577700"/>
            <a:ext cx="13436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517053" y="4577700"/>
            <a:ext cx="4478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448743" y="2748900"/>
            <a:ext cx="533286" cy="3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89767" y="385369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ISR-2</a:t>
            </a:r>
            <a:endParaRPr lang="en-US" dirty="0"/>
          </a:p>
        </p:txBody>
      </p:sp>
      <p:cxnSp>
        <p:nvCxnSpPr>
          <p:cNvPr id="20" name="Elbow Connector 19"/>
          <p:cNvCxnSpPr/>
          <p:nvPr/>
        </p:nvCxnSpPr>
        <p:spPr>
          <a:xfrm flipV="1">
            <a:off x="1013468" y="2543621"/>
            <a:ext cx="3137859" cy="2024292"/>
          </a:xfrm>
          <a:prstGeom prst="bentConnector3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Arrow 28"/>
          <p:cNvSpPr/>
          <p:nvPr/>
        </p:nvSpPr>
        <p:spPr>
          <a:xfrm rot="5400000">
            <a:off x="4033270" y="2541400"/>
            <a:ext cx="368560" cy="29127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604482" y="3619908"/>
            <a:ext cx="966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PIPE ISR_1-2</a:t>
            </a:r>
            <a:endParaRPr lang="en-US" sz="1200" dirty="0"/>
          </a:p>
        </p:txBody>
      </p:sp>
      <p:sp>
        <p:nvSpPr>
          <p:cNvPr id="35" name="Right Arrow 34"/>
          <p:cNvSpPr/>
          <p:nvPr/>
        </p:nvSpPr>
        <p:spPr>
          <a:xfrm>
            <a:off x="620693" y="4403896"/>
            <a:ext cx="444878" cy="347607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/>
          <p:cNvSpPr/>
          <p:nvPr/>
        </p:nvSpPr>
        <p:spPr>
          <a:xfrm rot="21403308">
            <a:off x="1291104" y="4424604"/>
            <a:ext cx="9398764" cy="876227"/>
          </a:xfrm>
          <a:custGeom>
            <a:avLst/>
            <a:gdLst>
              <a:gd name="connsiteX0" fmla="*/ 0 w 7232072"/>
              <a:gd name="connsiteY0" fmla="*/ 207818 h 415636"/>
              <a:gd name="connsiteX1" fmla="*/ 1064029 w 7232072"/>
              <a:gd name="connsiteY1" fmla="*/ 0 h 415636"/>
              <a:gd name="connsiteX2" fmla="*/ 2818014 w 7232072"/>
              <a:gd name="connsiteY2" fmla="*/ 249381 h 415636"/>
              <a:gd name="connsiteX3" fmla="*/ 3757352 w 7232072"/>
              <a:gd name="connsiteY3" fmla="*/ 216130 h 415636"/>
              <a:gd name="connsiteX4" fmla="*/ 5295207 w 7232072"/>
              <a:gd name="connsiteY4" fmla="*/ 332509 h 415636"/>
              <a:gd name="connsiteX5" fmla="*/ 6475614 w 7232072"/>
              <a:gd name="connsiteY5" fmla="*/ 257694 h 415636"/>
              <a:gd name="connsiteX6" fmla="*/ 7232072 w 7232072"/>
              <a:gd name="connsiteY6" fmla="*/ 415636 h 415636"/>
              <a:gd name="connsiteX7" fmla="*/ 7232072 w 7232072"/>
              <a:gd name="connsiteY7" fmla="*/ 415636 h 415636"/>
              <a:gd name="connsiteX0" fmla="*/ 0 w 7232072"/>
              <a:gd name="connsiteY0" fmla="*/ 106574 h 314392"/>
              <a:gd name="connsiteX1" fmla="*/ 1051593 w 7232072"/>
              <a:gd name="connsiteY1" fmla="*/ 0 h 314392"/>
              <a:gd name="connsiteX2" fmla="*/ 2818014 w 7232072"/>
              <a:gd name="connsiteY2" fmla="*/ 148137 h 314392"/>
              <a:gd name="connsiteX3" fmla="*/ 3757352 w 7232072"/>
              <a:gd name="connsiteY3" fmla="*/ 114886 h 314392"/>
              <a:gd name="connsiteX4" fmla="*/ 5295207 w 7232072"/>
              <a:gd name="connsiteY4" fmla="*/ 231265 h 314392"/>
              <a:gd name="connsiteX5" fmla="*/ 6475614 w 7232072"/>
              <a:gd name="connsiteY5" fmla="*/ 156450 h 314392"/>
              <a:gd name="connsiteX6" fmla="*/ 7232072 w 7232072"/>
              <a:gd name="connsiteY6" fmla="*/ 314392 h 314392"/>
              <a:gd name="connsiteX7" fmla="*/ 7232072 w 7232072"/>
              <a:gd name="connsiteY7" fmla="*/ 314392 h 31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32072" h="314392">
                <a:moveTo>
                  <a:pt x="0" y="106574"/>
                </a:moveTo>
                <a:lnTo>
                  <a:pt x="1051593" y="0"/>
                </a:lnTo>
                <a:lnTo>
                  <a:pt x="2818014" y="148137"/>
                </a:lnTo>
                <a:lnTo>
                  <a:pt x="3757352" y="114886"/>
                </a:lnTo>
                <a:lnTo>
                  <a:pt x="5295207" y="231265"/>
                </a:lnTo>
                <a:lnTo>
                  <a:pt x="6475614" y="156450"/>
                </a:lnTo>
                <a:lnTo>
                  <a:pt x="7232072" y="314392"/>
                </a:lnTo>
                <a:lnTo>
                  <a:pt x="7232072" y="314392"/>
                </a:lnTo>
              </a:path>
            </a:pathLst>
          </a:custGeom>
          <a:pattFill prst="lgConfetti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/>
          <p:cNvSpPr/>
          <p:nvPr/>
        </p:nvSpPr>
        <p:spPr>
          <a:xfrm>
            <a:off x="11081367" y="4256862"/>
            <a:ext cx="444878" cy="347607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/>
          <p:cNvCxnSpPr/>
          <p:nvPr/>
        </p:nvCxnSpPr>
        <p:spPr>
          <a:xfrm>
            <a:off x="8363934" y="4430666"/>
            <a:ext cx="2850147" cy="6216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40583" y="3803499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ISR-1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703659" y="3748173"/>
            <a:ext cx="1301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PIPE ISR_2-PL and</a:t>
            </a:r>
            <a:br>
              <a:rPr lang="en-US" sz="1200" dirty="0" smtClean="0"/>
            </a:br>
            <a:r>
              <a:rPr lang="en-US" sz="1200" dirty="0" smtClean="0"/>
              <a:t>Check Valve</a:t>
            </a:r>
            <a:endParaRPr lang="en-US" sz="1200" dirty="0"/>
          </a:p>
        </p:txBody>
      </p:sp>
      <p:sp>
        <p:nvSpPr>
          <p:cNvPr id="46" name="Isosceles Triangle 45"/>
          <p:cNvSpPr/>
          <p:nvPr/>
        </p:nvSpPr>
        <p:spPr>
          <a:xfrm rot="5400000">
            <a:off x="9038560" y="4259638"/>
            <a:ext cx="419877" cy="354488"/>
          </a:xfrm>
          <a:prstGeom prst="triangl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949142" y="2525568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PIPE V2ISR1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60931" y="4756752"/>
            <a:ext cx="1809916" cy="206210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800" dirty="0"/>
              <a:t>RULE KEEPISR1FULL</a:t>
            </a:r>
          </a:p>
          <a:p>
            <a:r>
              <a:rPr lang="en-US" sz="800" dirty="0"/>
              <a:t>IF TANK ISR-1 LEVEL &lt; </a:t>
            </a:r>
            <a:r>
              <a:rPr lang="en-US" sz="800" dirty="0" smtClean="0"/>
              <a:t>27</a:t>
            </a:r>
            <a:endParaRPr lang="en-US" sz="800" dirty="0"/>
          </a:p>
          <a:p>
            <a:r>
              <a:rPr lang="en-US" sz="800" dirty="0"/>
              <a:t>THEN PUMP P-24W2 STATUS IS OPEN</a:t>
            </a:r>
          </a:p>
          <a:p>
            <a:r>
              <a:rPr lang="en-US" sz="800" dirty="0"/>
              <a:t>AND PUMP P-24W3 STATUS IS OPEN</a:t>
            </a:r>
          </a:p>
          <a:p>
            <a:r>
              <a:rPr lang="en-US" sz="800" dirty="0"/>
              <a:t>AND PUMP P-24W1 STATUS IS OPEN</a:t>
            </a:r>
          </a:p>
          <a:p>
            <a:r>
              <a:rPr lang="en-US" sz="800" dirty="0"/>
              <a:t>AND PUMP P-25W2 STATUS IS OPEN</a:t>
            </a:r>
          </a:p>
          <a:p>
            <a:r>
              <a:rPr lang="en-US" sz="800" dirty="0"/>
              <a:t>AND PUMP P-25W5 STATUS IS OPEN</a:t>
            </a:r>
          </a:p>
          <a:p>
            <a:r>
              <a:rPr lang="en-US" sz="800" dirty="0"/>
              <a:t>AND PUMP P-30W3 STATUS IS OPEN</a:t>
            </a:r>
          </a:p>
          <a:p>
            <a:r>
              <a:rPr lang="en-US" sz="800" dirty="0"/>
              <a:t>AND PUMP P-30W4 STATUS IS OPEN</a:t>
            </a:r>
          </a:p>
          <a:p>
            <a:r>
              <a:rPr lang="en-US" sz="800" dirty="0"/>
              <a:t>AND PUMP P-30W5 STATUS IS OPEN</a:t>
            </a:r>
          </a:p>
          <a:p>
            <a:r>
              <a:rPr lang="en-US" sz="800" dirty="0"/>
              <a:t>AND PUMP P-25W1 STATUS IS OPEN</a:t>
            </a:r>
          </a:p>
          <a:p>
            <a:r>
              <a:rPr lang="en-US" sz="800" dirty="0"/>
              <a:t>AND PUMP P-30W6 STATUS IS OPEN</a:t>
            </a:r>
          </a:p>
          <a:p>
            <a:r>
              <a:rPr lang="en-US" sz="800" dirty="0"/>
              <a:t>AND PUMP P-30W2 STATUS IS OPEN</a:t>
            </a:r>
          </a:p>
          <a:p>
            <a:r>
              <a:rPr lang="en-US" sz="800" dirty="0"/>
              <a:t>AND PUMP P-25W4 STATUS IS OPEN</a:t>
            </a:r>
          </a:p>
          <a:p>
            <a:r>
              <a:rPr lang="en-US" sz="800" dirty="0"/>
              <a:t>AND PUMP P-25W3 STATUS IS OPEN</a:t>
            </a:r>
          </a:p>
          <a:p>
            <a:r>
              <a:rPr lang="en-US" sz="800" dirty="0"/>
              <a:t>AND PUMP P-30W1 STATUS IS OPEN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982" y="189188"/>
            <a:ext cx="1879515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800" dirty="0"/>
              <a:t>RULE STOPISR1FILL</a:t>
            </a:r>
          </a:p>
          <a:p>
            <a:r>
              <a:rPr lang="en-US" sz="800" dirty="0"/>
              <a:t>IF TANK ISR-1 LEVEL &gt; </a:t>
            </a:r>
            <a:r>
              <a:rPr lang="en-US" sz="800" dirty="0" smtClean="0"/>
              <a:t>29</a:t>
            </a:r>
            <a:endParaRPr lang="en-US" sz="800" dirty="0"/>
          </a:p>
          <a:p>
            <a:r>
              <a:rPr lang="en-US" sz="800" dirty="0"/>
              <a:t>THEN PUMP P-24W2 STATUS IS CLOSED</a:t>
            </a:r>
          </a:p>
          <a:p>
            <a:r>
              <a:rPr lang="en-US" sz="800" dirty="0"/>
              <a:t>AND PUMP P-24W3 STATUS IS CLOSED</a:t>
            </a:r>
          </a:p>
          <a:p>
            <a:r>
              <a:rPr lang="en-US" sz="800" dirty="0"/>
              <a:t>AND PUMP P-24W1 STATUS IS CLOSED</a:t>
            </a:r>
          </a:p>
          <a:p>
            <a:r>
              <a:rPr lang="en-US" sz="800" dirty="0"/>
              <a:t>AND PUMP P-25W2 STATUS IS CLOSED</a:t>
            </a:r>
          </a:p>
          <a:p>
            <a:r>
              <a:rPr lang="en-US" sz="800" dirty="0"/>
              <a:t>AND PUMP P-25W5 STATUS IS CLOSED</a:t>
            </a:r>
          </a:p>
          <a:p>
            <a:r>
              <a:rPr lang="en-US" sz="800" dirty="0"/>
              <a:t>AND PUMP P-30W3 STATUS IS CLOSED</a:t>
            </a:r>
          </a:p>
          <a:p>
            <a:r>
              <a:rPr lang="en-US" sz="800" dirty="0"/>
              <a:t>AND PUMP P-30W4 STATUS IS CLOSED</a:t>
            </a:r>
          </a:p>
          <a:p>
            <a:r>
              <a:rPr lang="en-US" sz="800" dirty="0"/>
              <a:t>AND PUMP P-30W5 STATUS IS CLOSED</a:t>
            </a:r>
          </a:p>
          <a:p>
            <a:r>
              <a:rPr lang="en-US" sz="800" dirty="0"/>
              <a:t>AND PUMP P-25W1 STATUS IS CLOSED</a:t>
            </a:r>
          </a:p>
          <a:p>
            <a:r>
              <a:rPr lang="en-US" sz="800" dirty="0"/>
              <a:t>AND PUMP P-30W6 STATUS IS CLOSED</a:t>
            </a:r>
          </a:p>
          <a:p>
            <a:r>
              <a:rPr lang="en-US" sz="800" dirty="0"/>
              <a:t>AND PUMP P-30W2 STATUS IS CLOSED</a:t>
            </a:r>
          </a:p>
          <a:p>
            <a:r>
              <a:rPr lang="en-US" sz="800" dirty="0"/>
              <a:t>AND PUMP P-25W4 STATUS IS CLOSED</a:t>
            </a:r>
          </a:p>
          <a:p>
            <a:r>
              <a:rPr lang="en-US" sz="800" dirty="0"/>
              <a:t>AND PUMP P-25W3 STATUS IS CLOSED</a:t>
            </a:r>
          </a:p>
          <a:p>
            <a:r>
              <a:rPr lang="en-US" sz="800" dirty="0"/>
              <a:t>AND PUMP P-30W1 STATUS IS CLOSED</a:t>
            </a:r>
          </a:p>
        </p:txBody>
      </p:sp>
      <p:sp>
        <p:nvSpPr>
          <p:cNvPr id="32" name="Right Brace 31"/>
          <p:cNvSpPr/>
          <p:nvPr/>
        </p:nvSpPr>
        <p:spPr>
          <a:xfrm>
            <a:off x="2154431" y="4769859"/>
            <a:ext cx="169020" cy="20358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2376379" y="5604593"/>
            <a:ext cx="215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Activate all pumps to keep ISR-1 from empty</a:t>
            </a:r>
          </a:p>
          <a:p>
            <a:endParaRPr lang="en-US" sz="1200" dirty="0"/>
          </a:p>
        </p:txBody>
      </p:sp>
      <p:cxnSp>
        <p:nvCxnSpPr>
          <p:cNvPr id="43" name="Elbow Connector 42"/>
          <p:cNvCxnSpPr/>
          <p:nvPr/>
        </p:nvCxnSpPr>
        <p:spPr>
          <a:xfrm flipV="1">
            <a:off x="5530736" y="2598209"/>
            <a:ext cx="2481421" cy="954926"/>
          </a:xfrm>
          <a:prstGeom prst="bentConnector3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Arrow 47"/>
          <p:cNvSpPr/>
          <p:nvPr/>
        </p:nvSpPr>
        <p:spPr>
          <a:xfrm rot="5400000">
            <a:off x="7755900" y="2592062"/>
            <a:ext cx="368560" cy="29127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48"/>
          <p:cNvSpPr/>
          <p:nvPr/>
        </p:nvSpPr>
        <p:spPr>
          <a:xfrm>
            <a:off x="2347796" y="202295"/>
            <a:ext cx="169020" cy="20358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7206415" y="1049954"/>
            <a:ext cx="2148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Keep ISR-2 above minimum level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162330" y="4110735"/>
            <a:ext cx="1627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WELLFIELD COLLECTOR</a:t>
            </a:r>
            <a:endParaRPr lang="en-US" sz="12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5664100" y="3364087"/>
            <a:ext cx="452748" cy="439412"/>
            <a:chOff x="5077988" y="2344081"/>
            <a:chExt cx="452748" cy="439412"/>
          </a:xfrm>
        </p:grpSpPr>
        <p:sp>
          <p:nvSpPr>
            <p:cNvPr id="12" name="Oval 11"/>
            <p:cNvSpPr/>
            <p:nvPr/>
          </p:nvSpPr>
          <p:spPr>
            <a:xfrm>
              <a:off x="5077988" y="2344081"/>
              <a:ext cx="452748" cy="4394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159829" y="2430892"/>
              <a:ext cx="283109" cy="283451"/>
              <a:chOff x="5079497" y="2207738"/>
              <a:chExt cx="637770" cy="433068"/>
            </a:xfrm>
            <a:solidFill>
              <a:srgbClr val="002060"/>
            </a:solidFill>
          </p:grpSpPr>
          <p:sp>
            <p:nvSpPr>
              <p:cNvPr id="33" name="Isosceles Triangle 32"/>
              <p:cNvSpPr/>
              <p:nvPr/>
            </p:nvSpPr>
            <p:spPr>
              <a:xfrm rot="5400000">
                <a:off x="5046802" y="2240433"/>
                <a:ext cx="419877" cy="354488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Isosceles Triangle 37"/>
              <p:cNvSpPr/>
              <p:nvPr/>
            </p:nvSpPr>
            <p:spPr>
              <a:xfrm rot="16200000">
                <a:off x="5330084" y="2253624"/>
                <a:ext cx="419877" cy="354488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5453552" y="3872375"/>
            <a:ext cx="770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FCV_ISR2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10806276" y="3988165"/>
            <a:ext cx="914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 PIPELINE</a:t>
            </a:r>
            <a:endParaRPr lang="en-US" sz="1200" dirty="0"/>
          </a:p>
        </p:txBody>
      </p:sp>
      <p:sp>
        <p:nvSpPr>
          <p:cNvPr id="52" name="Rectangle 51"/>
          <p:cNvSpPr/>
          <p:nvPr/>
        </p:nvSpPr>
        <p:spPr>
          <a:xfrm>
            <a:off x="4966733" y="52911"/>
            <a:ext cx="1809916" cy="243143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800" dirty="0"/>
              <a:t>RULE KEEP_ISR2_NON_EMPTY1</a:t>
            </a:r>
          </a:p>
          <a:p>
            <a:r>
              <a:rPr lang="en-US" sz="800" dirty="0"/>
              <a:t>IF TANK ISR-2 LEVEL &lt; 25</a:t>
            </a:r>
          </a:p>
          <a:p>
            <a:r>
              <a:rPr lang="en-US" sz="800" dirty="0"/>
              <a:t>THEN PIPE FCV-ISR2 SETTING IS 450</a:t>
            </a:r>
          </a:p>
          <a:p>
            <a:r>
              <a:rPr lang="en-US" sz="800" dirty="0"/>
              <a:t>PRIORITY 1</a:t>
            </a:r>
          </a:p>
          <a:p>
            <a:endParaRPr lang="en-US" sz="800" dirty="0"/>
          </a:p>
          <a:p>
            <a:r>
              <a:rPr lang="en-US" sz="800" dirty="0"/>
              <a:t>RULE KEEP_ISR2_NON_EMPTY2</a:t>
            </a:r>
          </a:p>
          <a:p>
            <a:r>
              <a:rPr lang="en-US" sz="800" dirty="0"/>
              <a:t>IF TANK ISR-2 LEVEL &lt; 24</a:t>
            </a:r>
          </a:p>
          <a:p>
            <a:r>
              <a:rPr lang="en-US" sz="800" dirty="0"/>
              <a:t>THEN PIPE FCV-ISR2 SETTING IS 900</a:t>
            </a:r>
          </a:p>
          <a:p>
            <a:r>
              <a:rPr lang="en-US" sz="800" dirty="0"/>
              <a:t>PRIORITY 2</a:t>
            </a:r>
          </a:p>
          <a:p>
            <a:endParaRPr lang="en-US" sz="800" dirty="0"/>
          </a:p>
          <a:p>
            <a:r>
              <a:rPr lang="en-US" sz="800" dirty="0"/>
              <a:t>RULE KEEP_ISR2_NON_EMPTY3</a:t>
            </a:r>
          </a:p>
          <a:p>
            <a:r>
              <a:rPr lang="en-US" sz="800" dirty="0"/>
              <a:t>IF TANK ISR-2 LEVEL &lt; 23</a:t>
            </a:r>
          </a:p>
          <a:p>
            <a:r>
              <a:rPr lang="en-US" sz="800" dirty="0"/>
              <a:t>THEN PIPE FCV-ISR2 SETTING IS 1500</a:t>
            </a:r>
          </a:p>
          <a:p>
            <a:r>
              <a:rPr lang="en-US" sz="800" dirty="0"/>
              <a:t>PRIORITY 3</a:t>
            </a:r>
          </a:p>
          <a:p>
            <a:endParaRPr lang="en-US" sz="800" dirty="0"/>
          </a:p>
          <a:p>
            <a:r>
              <a:rPr lang="en-US" sz="800" dirty="0"/>
              <a:t>RULE KEEP_ISR2_NON_EMPTY4</a:t>
            </a:r>
          </a:p>
          <a:p>
            <a:r>
              <a:rPr lang="en-US" sz="800" dirty="0"/>
              <a:t>IF TANK ISR-2 LEVEL &lt; 22</a:t>
            </a:r>
          </a:p>
          <a:p>
            <a:r>
              <a:rPr lang="en-US" sz="800" dirty="0"/>
              <a:t>THEN PIPE FCV-ISR2 STATUS IS OPEN</a:t>
            </a:r>
          </a:p>
          <a:p>
            <a:r>
              <a:rPr lang="en-US" sz="800" dirty="0"/>
              <a:t>PRIORITY </a:t>
            </a:r>
            <a:r>
              <a:rPr lang="en-US" sz="800" dirty="0" smtClean="0"/>
              <a:t>4</a:t>
            </a:r>
            <a:endParaRPr lang="en-US" sz="800" dirty="0"/>
          </a:p>
        </p:txBody>
      </p:sp>
      <p:sp>
        <p:nvSpPr>
          <p:cNvPr id="53" name="Rectangle 52"/>
          <p:cNvSpPr/>
          <p:nvPr/>
        </p:nvSpPr>
        <p:spPr>
          <a:xfrm>
            <a:off x="4905690" y="5300678"/>
            <a:ext cx="1809916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800" dirty="0" smtClean="0"/>
              <a:t>RULE </a:t>
            </a:r>
            <a:r>
              <a:rPr lang="en-US" sz="800" dirty="0"/>
              <a:t>STOP_ISR2_OVERFILL</a:t>
            </a:r>
          </a:p>
          <a:p>
            <a:r>
              <a:rPr lang="en-US" sz="800" dirty="0"/>
              <a:t>IF TANK ISR-2 LEVEL &gt; 29</a:t>
            </a:r>
          </a:p>
          <a:p>
            <a:r>
              <a:rPr lang="en-US" sz="800" dirty="0"/>
              <a:t>THEN PIPE FCV-ISR2 STATUS IS CLOSED</a:t>
            </a:r>
            <a:endParaRPr lang="en-US" sz="800" dirty="0"/>
          </a:p>
        </p:txBody>
      </p:sp>
      <p:sp>
        <p:nvSpPr>
          <p:cNvPr id="55" name="Right Brace 54"/>
          <p:cNvSpPr/>
          <p:nvPr/>
        </p:nvSpPr>
        <p:spPr>
          <a:xfrm>
            <a:off x="7012762" y="75948"/>
            <a:ext cx="167775" cy="24083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2533965" y="983553"/>
            <a:ext cx="2148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Stop all pumps to keep ISR-1 from overfill</a:t>
            </a:r>
          </a:p>
          <a:p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6776413" y="5426789"/>
            <a:ext cx="2148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Keep ISR-2 from overflowing</a:t>
            </a:r>
            <a:endParaRPr lang="en-US" sz="1200" dirty="0" smtClean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8993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49260</TotalTime>
  <Words>580</Words>
  <Application>Microsoft Office PowerPoint</Application>
  <PresentationFormat>Widescreen</PresentationFormat>
  <Paragraphs>144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Cleveland, Theodore</dc:creator>
  <cp:lastModifiedBy>Cleveland, Theodore</cp:lastModifiedBy>
  <cp:revision>26</cp:revision>
  <dcterms:created xsi:type="dcterms:W3CDTF">2024-01-08T17:49:52Z</dcterms:created>
  <dcterms:modified xsi:type="dcterms:W3CDTF">2024-03-05T16:27:14Z</dcterms:modified>
</cp:coreProperties>
</file>